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Anuj. MediBill-Env is an OpenEnv environment for testing whether an LLM agent can detect and recover from silent policy drift in medical claims billing.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 IRDAI gives hospitals one hour for pre-authorization and three hours for final discharge on every cashless claim. Miss the three-hour clock, and the overrun comes out of the insurer's shareholder fund. Industry estimates put FY24 disallowed health-claim value around twenty-six thousand crore rupees. Roughly thirteen percent of pre-auths still miss the one-hour window. The bottleneck is a human coder racing a clock, and the policies keep changing on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agent benchmarks check whether the agent can fill a form correctly. That is schema validation, and rules engines already do it. The real failure mode in this domain is staleness — the policy changed, the agent did not notice, the claim is wrong. An agent that learned by imitating last month's expert trajectories will reproduce last month's rules. We want an agent that knows to re-check before submitting.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has five tools: query the patient record, look up the insurer's active policy, write fields, escalate when uncertain, and submit. Three task tiers — easy, medium, and hard, where the policy mutates mid-episode. The grader has six axes with a disjoint field partition asserted at import time, so identity correctness and policy compliance never overlap.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hard_drift tasks the active policy mutates mid-episode across three to seven fields — pre-auth thresholds, required signatures, narrative requirements, discharge attachment rules. Multi-field mutation, not a boolean. No announcement, no flag, no event. The only path to the new rules is a fresh insurance_lookup after the unknown drift step. Submissions are graded against the policy at submit time. Twelve claim types, three tiers, seed-randomized drift = over twelve thousand unique trajectories. Scripted baseline drops from one-zero on easy to zero-seven-six on drift. That zero-two-four gap is the trainable signal.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bars on hard_drift, left to right: base Qwen at zero, random at eleven, no-op at eight, scripted at seventy-six, SFT v1 at seventy-six, our final SFT v2 at zero-point-nine-nine-nine-six. Untrained, the 3B model scores literal zero — zero parse failures across fifteen episodes — it can format JSON, it just has no policy reasoning. SFT v1 hit scripted-teacher parity. Then GRPO with five reward functions saturated — delta two ten-thousandths, gradient ten-to-minus-seven. Diagnosis: SFT extracts everything the rewards can grip on. So we engineered a stronger teacher — Scripted plus plus, which escalates ambiguous cells and does a fresh insurance lookup before each submit. Ninety new trajectories, thirty-three minutes of retraining. SFT v2: one-zero-zero on easy and medium, zero-point-nine-nine-nine-six on hard. Average lift base to SFT v2: zero-point-nine-nine-nine-nine.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submit under Theme 3.1, DataOps Copilot. Shipping today: the environment, six-axis deterministic grader, silent drift mechanic, five-attack exploit suite, scripted baseline, and a trained SFT v2 adapter that hits zero-point-nine-nine-nine-nine average across all three difficulty tiers — table on slide five. Two axes — abstention and drift_bonus — are RL-only by design. Disjoint partition at import, five exploit tests, prompt-version handshake. Repo and live HF Space on screen.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MediBill-Env</a:t>
            </a:r>
          </a:p>
        </p:txBody>
      </p:sp>
      <p:sp>
        <p:nvSpPr>
          <p:cNvPr id="3" name="Subtitle 2"/>
          <p:cNvSpPr>
            <a:spLocks noGrp="1"/>
          </p:cNvSpPr>
          <p:nvPr>
            <p:ph type="subTitle" idx="1"/>
          </p:nvPr>
        </p:nvSpPr>
        <p:spPr/>
        <p:txBody>
          <a:bodyPr/>
          <a:lstStyle/>
          <a:p>
            <a:r>
              <a:t>Silent policy drift in Indian health-insurance claims</a:t>
            </a:r>
          </a:p>
          <a:p>
            <a:r>
              <a:t>Meta × Scaler OpenEnv Hackathon — Round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000" b="1">
                <a:solidFill>
                  <a:srgbClr val="101010"/>
                </a:solidFill>
              </a:rPr>
              <a:t>180 minutes to close the claim.</a:t>
            </a:r>
          </a:p>
        </p:txBody>
      </p:sp>
      <p:sp>
        <p:nvSpPr>
          <p:cNvPr id="3" name="Content Placeholder 2"/>
          <p:cNvSpPr>
            <a:spLocks noGrp="1"/>
          </p:cNvSpPr>
          <p:nvPr>
            <p:ph idx="1"/>
          </p:nvPr>
        </p:nvSpPr>
        <p:spPr/>
        <p:txBody>
          <a:bodyPr wrap="square"/>
          <a:lstStyle/>
          <a:p>
            <a:pPr/>
            <a:r>
              <a:rPr sz="2200">
                <a:solidFill>
                  <a:srgbClr val="101010"/>
                </a:solidFill>
              </a:rPr>
              <a:t>IRDAI mandate (May 2024): 1 hour pre-auth, 3 hours discharge</a:t>
            </a:r>
          </a:p>
          <a:p>
            <a:pPr/>
            <a:r>
              <a:rPr sz="2200">
                <a:solidFill>
                  <a:srgbClr val="101010"/>
                </a:solidFill>
              </a:rPr>
              <a:t>Miss the 3-hour clock → insurer eats the cost from shareholder funds</a:t>
            </a:r>
          </a:p>
          <a:p>
            <a:pPr/>
            <a:r>
              <a:rPr sz="2200">
                <a:solidFill>
                  <a:srgbClr val="101010"/>
                </a:solidFill>
              </a:rPr>
              <a:t>FY24: ~₹26,000 cr health-claim disallowed</a:t>
            </a:r>
          </a:p>
          <a:p>
            <a:pPr/>
            <a:r>
              <a:rPr sz="2200">
                <a:solidFill>
                  <a:srgbClr val="101010"/>
                </a:solidFill>
              </a:rPr>
              <a:t>~13% of pre-auths still miss the window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000" b="1">
                <a:solidFill>
                  <a:srgbClr val="101010"/>
                </a:solidFill>
              </a:rPr>
              <a:t>Why agents fail here</a:t>
            </a:r>
          </a:p>
        </p:txBody>
      </p:sp>
      <p:sp>
        <p:nvSpPr>
          <p:cNvPr id="3" name="Content Placeholder 2"/>
          <p:cNvSpPr>
            <a:spLocks noGrp="1"/>
          </p:cNvSpPr>
          <p:nvPr>
            <p:ph idx="1"/>
          </p:nvPr>
        </p:nvSpPr>
        <p:spPr/>
        <p:txBody>
          <a:bodyPr wrap="square"/>
          <a:lstStyle/>
          <a:p>
            <a:pPr/>
            <a:r>
              <a:rPr sz="2200">
                <a:solidFill>
                  <a:srgbClr val="101010"/>
                </a:solidFill>
              </a:rPr>
              <a:t>Rules engines handle static schema validation</a:t>
            </a:r>
          </a:p>
          <a:p>
            <a:pPr/>
            <a:r>
              <a:rPr sz="2200">
                <a:solidFill>
                  <a:srgbClr val="101010"/>
                </a:solidFill>
              </a:rPr>
              <a:t>They do not handle staleness — yesterday's correct rule, today wrong</a:t>
            </a:r>
          </a:p>
          <a:p>
            <a:pPr/>
            <a:r>
              <a:rPr sz="2200">
                <a:solidFill>
                  <a:srgbClr val="101010"/>
                </a:solidFill>
              </a:rPr>
              <a:t>Agents that imitate one month's trajectories fail quietly the next month</a:t>
            </a:r>
          </a:p>
          <a:p>
            <a:pPr/>
            <a:r>
              <a:rPr sz="2200">
                <a:solidFill>
                  <a:srgbClr val="101010"/>
                </a:solidFill>
              </a:rPr>
              <a:t>We need an agent that knows to re-check before submitting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000" b="1">
                <a:solidFill>
                  <a:srgbClr val="101010"/>
                </a:solidFill>
              </a:rPr>
              <a:t>MediBill-Env: 5 tools, 3 task tiers, 6-axis grader</a:t>
            </a:r>
          </a:p>
        </p:txBody>
      </p:sp>
      <p:graphicFrame>
        <p:nvGraphicFramePr>
          <p:cNvPr id="3" name="Table 2"/>
          <p:cNvGraphicFramePr>
            <a:graphicFrameLocks noGrp="1"/>
          </p:cNvGraphicFramePr>
          <p:nvPr/>
        </p:nvGraphicFramePr>
        <p:xfrm>
          <a:off x="548640" y="1280160"/>
          <a:ext cx="5943600" cy="3200400"/>
        </p:xfrm>
        <a:graphic>
          <a:graphicData uri="http://schemas.openxmlformats.org/drawingml/2006/table">
            <a:tbl>
              <a:tblPr firstRow="1" bandRow="1">
                <a:tableStyleId>{5C22544A-7EE6-4342-B048-85BDC9FD1C3A}</a:tableStyleId>
              </a:tblPr>
              <a:tblGrid>
                <a:gridCol w="2971800"/>
                <a:gridCol w="2971800"/>
              </a:tblGrid>
              <a:tr h="533400">
                <a:tc>
                  <a:txBody>
                    <a:bodyPr/>
                    <a:lstStyle/>
                    <a:p>
                      <a:r>
                        <a:rPr b="1" sz="1600">
                          <a:solidFill>
                            <a:srgbClr val="FFFFFF"/>
                          </a:solidFill>
                        </a:rPr>
                        <a:t>Tool</a:t>
                      </a:r>
                    </a:p>
                  </a:txBody>
                  <a:tcPr>
                    <a:solidFill>
                      <a:srgbClr val="0E6BA8"/>
                    </a:solidFill>
                  </a:tcPr>
                </a:tc>
                <a:tc>
                  <a:txBody>
                    <a:bodyPr/>
                    <a:lstStyle/>
                    <a:p>
                      <a:r>
                        <a:rPr b="1" sz="1600">
                          <a:solidFill>
                            <a:srgbClr val="FFFFFF"/>
                          </a:solidFill>
                        </a:rPr>
                        <a:t>Purpose</a:t>
                      </a:r>
                    </a:p>
                  </a:txBody>
                  <a:tcPr>
                    <a:solidFill>
                      <a:srgbClr val="0E6BA8"/>
                    </a:solidFill>
                  </a:tcPr>
                </a:tc>
              </a:tr>
              <a:tr h="533400">
                <a:tc>
                  <a:txBody>
                    <a:bodyPr/>
                    <a:lstStyle/>
                    <a:p>
                      <a:r>
                        <a:rPr sz="1400">
                          <a:solidFill>
                            <a:srgbClr val="101010"/>
                          </a:solidFill>
                        </a:rPr>
                        <a:t>ehr_query</a:t>
                      </a:r>
                    </a:p>
                  </a:txBody>
                  <a:tcPr/>
                </a:tc>
                <a:tc>
                  <a:txBody>
                    <a:bodyPr/>
                    <a:lstStyle/>
                    <a:p>
                      <a:r>
                        <a:rPr sz="1400">
                          <a:solidFill>
                            <a:srgbClr val="101010"/>
                          </a:solidFill>
                        </a:rPr>
                        <a:t>Read patient record</a:t>
                      </a:r>
                    </a:p>
                  </a:txBody>
                  <a:tcPr/>
                </a:tc>
              </a:tr>
              <a:tr h="533400">
                <a:tc>
                  <a:txBody>
                    <a:bodyPr/>
                    <a:lstStyle/>
                    <a:p>
                      <a:r>
                        <a:rPr sz="1400">
                          <a:solidFill>
                            <a:srgbClr val="101010"/>
                          </a:solidFill>
                        </a:rPr>
                        <a:t>insurance_lookup</a:t>
                      </a:r>
                    </a:p>
                  </a:txBody>
                  <a:tcPr/>
                </a:tc>
                <a:tc>
                  <a:txBody>
                    <a:bodyPr/>
                    <a:lstStyle/>
                    <a:p>
                      <a:r>
                        <a:rPr sz="1400">
                          <a:solidFill>
                            <a:srgbClr val="101010"/>
                          </a:solidFill>
                        </a:rPr>
                        <a:t>Fetch active policy rules</a:t>
                      </a:r>
                    </a:p>
                  </a:txBody>
                  <a:tcPr/>
                </a:tc>
              </a:tr>
              <a:tr h="533400">
                <a:tc>
                  <a:txBody>
                    <a:bodyPr/>
                    <a:lstStyle/>
                    <a:p>
                      <a:r>
                        <a:rPr sz="1400">
                          <a:solidFill>
                            <a:srgbClr val="101010"/>
                          </a:solidFill>
                        </a:rPr>
                        <a:t>coding_engine</a:t>
                      </a:r>
                    </a:p>
                  </a:txBody>
                  <a:tcPr/>
                </a:tc>
                <a:tc>
                  <a:txBody>
                    <a:bodyPr/>
                    <a:lstStyle/>
                    <a:p>
                      <a:r>
                        <a:rPr sz="1400">
                          <a:solidFill>
                            <a:srgbClr val="101010"/>
                          </a:solidFill>
                        </a:rPr>
                        <a:t>Write a policy-sensitive field</a:t>
                      </a:r>
                    </a:p>
                  </a:txBody>
                  <a:tcPr/>
                </a:tc>
              </a:tr>
              <a:tr h="533400">
                <a:tc>
                  <a:txBody>
                    <a:bodyPr/>
                    <a:lstStyle/>
                    <a:p>
                      <a:r>
                        <a:rPr sz="1400">
                          <a:solidFill>
                            <a:srgbClr val="101010"/>
                          </a:solidFill>
                        </a:rPr>
                        <a:t>escalate_to_human</a:t>
                      </a:r>
                    </a:p>
                  </a:txBody>
                  <a:tcPr/>
                </a:tc>
                <a:tc>
                  <a:txBody>
                    <a:bodyPr/>
                    <a:lstStyle/>
                    <a:p>
                      <a:r>
                        <a:rPr sz="1400">
                          <a:solidFill>
                            <a:srgbClr val="101010"/>
                          </a:solidFill>
                        </a:rPr>
                        <a:t>Calibrated abstention</a:t>
                      </a:r>
                    </a:p>
                  </a:txBody>
                  <a:tcPr/>
                </a:tc>
              </a:tr>
              <a:tr h="533400">
                <a:tc>
                  <a:txBody>
                    <a:bodyPr/>
                    <a:lstStyle/>
                    <a:p>
                      <a:r>
                        <a:rPr sz="1400">
                          <a:solidFill>
                            <a:srgbClr val="101010"/>
                          </a:solidFill>
                        </a:rPr>
                        <a:t>submit_claim</a:t>
                      </a:r>
                    </a:p>
                  </a:txBody>
                  <a:tcPr/>
                </a:tc>
                <a:tc>
                  <a:txBody>
                    <a:bodyPr/>
                    <a:lstStyle/>
                    <a:p>
                      <a:r>
                        <a:rPr sz="1400">
                          <a:solidFill>
                            <a:srgbClr val="101010"/>
                          </a:solidFill>
                        </a:rPr>
                        <a:t>Lock claim for grading</a:t>
                      </a:r>
                    </a:p>
                  </a:txBody>
                  <a:tcPr/>
                </a:tc>
              </a:tr>
            </a:tbl>
          </a:graphicData>
        </a:graphic>
      </p:graphicFrame>
      <p:graphicFrame>
        <p:nvGraphicFramePr>
          <p:cNvPr id="4" name="Table 3"/>
          <p:cNvGraphicFramePr>
            <a:graphicFrameLocks noGrp="1"/>
          </p:cNvGraphicFramePr>
          <p:nvPr/>
        </p:nvGraphicFramePr>
        <p:xfrm>
          <a:off x="6766560" y="1280160"/>
          <a:ext cx="4937760" cy="2286000"/>
        </p:xfrm>
        <a:graphic>
          <a:graphicData uri="http://schemas.openxmlformats.org/drawingml/2006/table">
            <a:tbl>
              <a:tblPr firstRow="1" bandRow="1">
                <a:tableStyleId>{5C22544A-7EE6-4342-B048-85BDC9FD1C3A}</a:tableStyleId>
              </a:tblPr>
              <a:tblGrid>
                <a:gridCol w="2468880"/>
                <a:gridCol w="2468880"/>
              </a:tblGrid>
              <a:tr h="571500">
                <a:tc>
                  <a:txBody>
                    <a:bodyPr/>
                    <a:lstStyle/>
                    <a:p>
                      <a:r>
                        <a:rPr b="1" sz="1600">
                          <a:solidFill>
                            <a:srgbClr val="FFFFFF"/>
                          </a:solidFill>
                        </a:rPr>
                        <a:t>Task tier</a:t>
                      </a:r>
                    </a:p>
                  </a:txBody>
                  <a:tcPr>
                    <a:solidFill>
                      <a:srgbClr val="0E6BA8"/>
                    </a:solidFill>
                  </a:tcPr>
                </a:tc>
                <a:tc>
                  <a:txBody>
                    <a:bodyPr/>
                    <a:lstStyle/>
                    <a:p>
                      <a:r>
                        <a:rPr b="1" sz="1600">
                          <a:solidFill>
                            <a:srgbClr val="FFFFFF"/>
                          </a:solidFill>
                        </a:rPr>
                        <a:t>Drift?</a:t>
                      </a:r>
                    </a:p>
                  </a:txBody>
                  <a:tcPr>
                    <a:solidFill>
                      <a:srgbClr val="0E6BA8"/>
                    </a:solidFill>
                  </a:tcPr>
                </a:tc>
              </a:tr>
              <a:tr h="571500">
                <a:tc>
                  <a:txBody>
                    <a:bodyPr/>
                    <a:lstStyle/>
                    <a:p>
                      <a:r>
                        <a:rPr sz="1400">
                          <a:solidFill>
                            <a:srgbClr val="101010"/>
                          </a:solidFill>
                        </a:rPr>
                        <a:t>easy_cashless</a:t>
                      </a:r>
                    </a:p>
                  </a:txBody>
                  <a:tcPr/>
                </a:tc>
                <a:tc>
                  <a:txBody>
                    <a:bodyPr/>
                    <a:lstStyle/>
                    <a:p>
                      <a:r>
                        <a:rPr sz="1400">
                          <a:solidFill>
                            <a:srgbClr val="101010"/>
                          </a:solidFill>
                        </a:rPr>
                        <a:t>no</a:t>
                      </a:r>
                    </a:p>
                  </a:txBody>
                  <a:tcPr/>
                </a:tc>
              </a:tr>
              <a:tr h="571500">
                <a:tc>
                  <a:txBody>
                    <a:bodyPr/>
                    <a:lstStyle/>
                    <a:p>
                      <a:r>
                        <a:rPr sz="1400">
                          <a:solidFill>
                            <a:srgbClr val="101010"/>
                          </a:solidFill>
                        </a:rPr>
                        <a:t>medium_multi_payer</a:t>
                      </a:r>
                    </a:p>
                  </a:txBody>
                  <a:tcPr/>
                </a:tc>
                <a:tc>
                  <a:txBody>
                    <a:bodyPr/>
                    <a:lstStyle/>
                    <a:p>
                      <a:r>
                        <a:rPr sz="1400">
                          <a:solidFill>
                            <a:srgbClr val="101010"/>
                          </a:solidFill>
                        </a:rPr>
                        <a:t>no</a:t>
                      </a:r>
                    </a:p>
                  </a:txBody>
                  <a:tcPr/>
                </a:tc>
              </a:tr>
              <a:tr h="571500">
                <a:tc>
                  <a:txBody>
                    <a:bodyPr/>
                    <a:lstStyle/>
                    <a:p>
                      <a:r>
                        <a:rPr sz="1400">
                          <a:solidFill>
                            <a:srgbClr val="101010"/>
                          </a:solidFill>
                        </a:rPr>
                        <a:t>hard_drift</a:t>
                      </a:r>
                    </a:p>
                  </a:txBody>
                  <a:tcPr/>
                </a:tc>
                <a:tc>
                  <a:txBody>
                    <a:bodyPr/>
                    <a:lstStyle/>
                    <a:p>
                      <a:r>
                        <a:rPr sz="1400">
                          <a:solidFill>
                            <a:srgbClr val="101010"/>
                          </a:solidFill>
                        </a:rPr>
                        <a:t>yes — silent, mid-episode</a:t>
                      </a:r>
                    </a:p>
                  </a:txBody>
                  <a:tcPr/>
                </a:tc>
              </a:tr>
            </a:tbl>
          </a:graphicData>
        </a:graphic>
      </p:graphicFrame>
      <p:sp>
        <p:nvSpPr>
          <p:cNvPr id="5" name="TextBox 4"/>
          <p:cNvSpPr txBox="1"/>
          <p:nvPr/>
        </p:nvSpPr>
        <p:spPr>
          <a:xfrm>
            <a:off x="548640" y="5029200"/>
            <a:ext cx="10972800" cy="914400"/>
          </a:xfrm>
          <a:prstGeom prst="rect">
            <a:avLst/>
          </a:prstGeom>
          <a:noFill/>
        </p:spPr>
        <p:txBody>
          <a:bodyPr wrap="square">
            <a:spAutoFit/>
          </a:bodyPr>
          <a:lstStyle/>
          <a:p>
            <a:r>
              <a:rPr sz="1800" i="1">
                <a:solidFill>
                  <a:srgbClr val="101010"/>
                </a:solidFill>
              </a:rPr>
              <a:t>6-axis deterministic grader · disjoint identity/policy partition asserted at import · 5 reward-hacking attacks neutralised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000" b="1">
                <a:solidFill>
                  <a:srgbClr val="101010"/>
                </a:solidFill>
              </a:rPr>
              <a:t>Silent multi-field policy drift</a:t>
            </a:r>
          </a:p>
        </p:txBody>
      </p:sp>
      <p:sp>
        <p:nvSpPr>
          <p:cNvPr id="3" name="Content Placeholder 2"/>
          <p:cNvSpPr>
            <a:spLocks noGrp="1"/>
          </p:cNvSpPr>
          <p:nvPr>
            <p:ph idx="1"/>
          </p:nvPr>
        </p:nvSpPr>
        <p:spPr/>
        <p:txBody>
          <a:bodyPr wrap="square"/>
          <a:lstStyle/>
          <a:p>
            <a:pPr/>
            <a:r>
              <a:rPr sz="2200">
                <a:solidFill>
                  <a:srgbClr val="101010"/>
                </a:solidFill>
              </a:rPr>
              <a:t>Active policy mutates 3–7 fields at a seed-randomized step</a:t>
            </a:r>
          </a:p>
          <a:p>
            <a:pPr/>
            <a:r>
              <a:rPr sz="2200">
                <a:solidFill>
                  <a:srgbClr val="101010"/>
                </a:solidFill>
              </a:rPr>
              <a:t>No announcement — no observation flag, no metadata key, no event</a:t>
            </a:r>
          </a:p>
          <a:p>
            <a:pPr/>
            <a:r>
              <a:rPr sz="2200">
                <a:solidFill>
                  <a:srgbClr val="101010"/>
                </a:solidFill>
              </a:rPr>
              <a:t>submit_claim is graded against the policy at submit time</a:t>
            </a:r>
          </a:p>
          <a:p>
            <a:pPr/>
            <a:r>
              <a:rPr sz="2200">
                <a:solidFill>
                  <a:srgbClr val="101010"/>
                </a:solidFill>
              </a:rPr>
              <a:t>Only path to new rules: a fresh insurance_lookup after the drift step</a:t>
            </a:r>
          </a:p>
          <a:p>
            <a:pPr/>
            <a:r>
              <a:rPr sz="2200">
                <a:solidFill>
                  <a:srgbClr val="101010"/>
                </a:solidFill>
              </a:rPr>
              <a:t>12 claim types × 3 tiers × randomized drift = ~12k+ unique trajectories</a:t>
            </a:r>
          </a:p>
          <a:p>
            <a:pPr/>
            <a:r>
              <a:rPr sz="2200">
                <a:solidFill>
                  <a:srgbClr val="101010"/>
                </a:solidFill>
              </a:rPr>
              <a:t>Scripted baseline: 1.00 on easy, 0.7611 on drift — the 0.24 gap is the signal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000" b="1">
                <a:solidFill>
                  <a:srgbClr val="101010"/>
                </a:solidFill>
              </a:rPr>
              <a:t>Base 0.00 → SFT v2 0.9999 avg. Teacher engineering broke through GRPO saturation.</a:t>
            </a:r>
          </a:p>
        </p:txBody>
      </p:sp>
      <p:graphicFrame>
        <p:nvGraphicFramePr>
          <p:cNvPr id="3" name="Table 2"/>
          <p:cNvGraphicFramePr>
            <a:graphicFrameLocks noGrp="1"/>
          </p:cNvGraphicFramePr>
          <p:nvPr/>
        </p:nvGraphicFramePr>
        <p:xfrm>
          <a:off x="457200" y="1188720"/>
          <a:ext cx="5760720" cy="2377440"/>
        </p:xfrm>
        <a:graphic>
          <a:graphicData uri="http://schemas.openxmlformats.org/drawingml/2006/table">
            <a:tbl>
              <a:tblPr firstRow="1" bandRow="1">
                <a:tableStyleId>{5C22544A-7EE6-4342-B048-85BDC9FD1C3A}</a:tableStyleId>
              </a:tblPr>
              <a:tblGrid>
                <a:gridCol w="1440180"/>
                <a:gridCol w="1440180"/>
                <a:gridCol w="1440180"/>
                <a:gridCol w="1440180"/>
              </a:tblGrid>
              <a:tr h="475488">
                <a:tc>
                  <a:txBody>
                    <a:bodyPr/>
                    <a:lstStyle/>
                    <a:p>
                      <a:r>
                        <a:rPr b="1" sz="1600">
                          <a:solidFill>
                            <a:srgbClr val="FFFFFF"/>
                          </a:solidFill>
                        </a:rPr>
                        <a:t>task</a:t>
                      </a:r>
                    </a:p>
                  </a:txBody>
                  <a:tcPr>
                    <a:solidFill>
                      <a:srgbClr val="0E6BA8"/>
                    </a:solidFill>
                  </a:tcPr>
                </a:tc>
                <a:tc>
                  <a:txBody>
                    <a:bodyPr/>
                    <a:lstStyle/>
                    <a:p>
                      <a:r>
                        <a:rPr b="1" sz="1600">
                          <a:solidFill>
                            <a:srgbClr val="FFFFFF"/>
                          </a:solidFill>
                        </a:rPr>
                        <a:t>base Qwen</a:t>
                      </a:r>
                    </a:p>
                  </a:txBody>
                  <a:tcPr>
                    <a:solidFill>
                      <a:srgbClr val="0E6BA8"/>
                    </a:solidFill>
                  </a:tcPr>
                </a:tc>
                <a:tc>
                  <a:txBody>
                    <a:bodyPr/>
                    <a:lstStyle/>
                    <a:p>
                      <a:r>
                        <a:rPr b="1" sz="1600">
                          <a:solidFill>
                            <a:srgbClr val="FFFFFF"/>
                          </a:solidFill>
                        </a:rPr>
                        <a:t>SFT v2</a:t>
                      </a:r>
                    </a:p>
                  </a:txBody>
                  <a:tcPr>
                    <a:solidFill>
                      <a:srgbClr val="0E6BA8"/>
                    </a:solidFill>
                  </a:tcPr>
                </a:tc>
                <a:tc>
                  <a:txBody>
                    <a:bodyPr/>
                    <a:lstStyle/>
                    <a:p>
                      <a:r>
                        <a:rPr b="1" sz="1600">
                          <a:solidFill>
                            <a:srgbClr val="FFFFFF"/>
                          </a:solidFill>
                        </a:rPr>
                        <a:t>lift</a:t>
                      </a:r>
                    </a:p>
                  </a:txBody>
                  <a:tcPr>
                    <a:solidFill>
                      <a:srgbClr val="0E6BA8"/>
                    </a:solidFill>
                  </a:tcPr>
                </a:tc>
              </a:tr>
              <a:tr h="475488">
                <a:tc>
                  <a:txBody>
                    <a:bodyPr/>
                    <a:lstStyle/>
                    <a:p>
                      <a:r>
                        <a:rPr sz="1400">
                          <a:solidFill>
                            <a:srgbClr val="101010"/>
                          </a:solidFill>
                        </a:rPr>
                        <a:t>easy_cashless</a:t>
                      </a:r>
                    </a:p>
                  </a:txBody>
                  <a:tcPr/>
                </a:tc>
                <a:tc>
                  <a:txBody>
                    <a:bodyPr/>
                    <a:lstStyle/>
                    <a:p>
                      <a:r>
                        <a:rPr sz="1400">
                          <a:solidFill>
                            <a:srgbClr val="101010"/>
                          </a:solidFill>
                        </a:rPr>
                        <a:t>0.0000</a:t>
                      </a:r>
                    </a:p>
                  </a:txBody>
                  <a:tcPr/>
                </a:tc>
                <a:tc>
                  <a:txBody>
                    <a:bodyPr/>
                    <a:lstStyle/>
                    <a:p>
                      <a:r>
                        <a:rPr sz="1400">
                          <a:solidFill>
                            <a:srgbClr val="101010"/>
                          </a:solidFill>
                        </a:rPr>
                        <a:t>1.0000</a:t>
                      </a:r>
                    </a:p>
                  </a:txBody>
                  <a:tcPr/>
                </a:tc>
                <a:tc>
                  <a:txBody>
                    <a:bodyPr/>
                    <a:lstStyle/>
                    <a:p>
                      <a:r>
                        <a:rPr sz="1400">
                          <a:solidFill>
                            <a:srgbClr val="101010"/>
                          </a:solidFill>
                        </a:rPr>
                        <a:t>+1.000</a:t>
                      </a:r>
                    </a:p>
                  </a:txBody>
                  <a:tcPr/>
                </a:tc>
              </a:tr>
              <a:tr h="475488">
                <a:tc>
                  <a:txBody>
                    <a:bodyPr/>
                    <a:lstStyle/>
                    <a:p>
                      <a:r>
                        <a:rPr sz="1400">
                          <a:solidFill>
                            <a:srgbClr val="101010"/>
                          </a:solidFill>
                        </a:rPr>
                        <a:t>medium_multi_payer</a:t>
                      </a:r>
                    </a:p>
                  </a:txBody>
                  <a:tcPr/>
                </a:tc>
                <a:tc>
                  <a:txBody>
                    <a:bodyPr/>
                    <a:lstStyle/>
                    <a:p>
                      <a:r>
                        <a:rPr sz="1400">
                          <a:solidFill>
                            <a:srgbClr val="101010"/>
                          </a:solidFill>
                        </a:rPr>
                        <a:t>0.0000</a:t>
                      </a:r>
                    </a:p>
                  </a:txBody>
                  <a:tcPr/>
                </a:tc>
                <a:tc>
                  <a:txBody>
                    <a:bodyPr/>
                    <a:lstStyle/>
                    <a:p>
                      <a:r>
                        <a:rPr sz="1400">
                          <a:solidFill>
                            <a:srgbClr val="101010"/>
                          </a:solidFill>
                        </a:rPr>
                        <a:t>1.0000</a:t>
                      </a:r>
                    </a:p>
                  </a:txBody>
                  <a:tcPr/>
                </a:tc>
                <a:tc>
                  <a:txBody>
                    <a:bodyPr/>
                    <a:lstStyle/>
                    <a:p>
                      <a:r>
                        <a:rPr sz="1400">
                          <a:solidFill>
                            <a:srgbClr val="101010"/>
                          </a:solidFill>
                        </a:rPr>
                        <a:t>+1.000</a:t>
                      </a:r>
                    </a:p>
                  </a:txBody>
                  <a:tcPr/>
                </a:tc>
              </a:tr>
              <a:tr h="475488">
                <a:tc>
                  <a:txBody>
                    <a:bodyPr/>
                    <a:lstStyle/>
                    <a:p>
                      <a:r>
                        <a:rPr sz="1400">
                          <a:solidFill>
                            <a:srgbClr val="101010"/>
                          </a:solidFill>
                        </a:rPr>
                        <a:t>hard_drift</a:t>
                      </a:r>
                    </a:p>
                  </a:txBody>
                  <a:tcPr/>
                </a:tc>
                <a:tc>
                  <a:txBody>
                    <a:bodyPr/>
                    <a:lstStyle/>
                    <a:p>
                      <a:r>
                        <a:rPr sz="1400">
                          <a:solidFill>
                            <a:srgbClr val="101010"/>
                          </a:solidFill>
                        </a:rPr>
                        <a:t>0.0000</a:t>
                      </a:r>
                    </a:p>
                  </a:txBody>
                  <a:tcPr/>
                </a:tc>
                <a:tc>
                  <a:txBody>
                    <a:bodyPr/>
                    <a:lstStyle/>
                    <a:p>
                      <a:r>
                        <a:rPr sz="1400" b="1">
                          <a:solidFill>
                            <a:srgbClr val="0A843D"/>
                          </a:solidFill>
                        </a:rPr>
                        <a:t>0.9996 ± 0.0008</a:t>
                      </a:r>
                    </a:p>
                  </a:txBody>
                  <a:tcPr/>
                </a:tc>
                <a:tc>
                  <a:txBody>
                    <a:bodyPr/>
                    <a:lstStyle/>
                    <a:p>
                      <a:r>
                        <a:rPr sz="1400" b="1">
                          <a:solidFill>
                            <a:srgbClr val="0A843D"/>
                          </a:solidFill>
                        </a:rPr>
                        <a:t>+0.9996</a:t>
                      </a:r>
                    </a:p>
                  </a:txBody>
                  <a:tcPr/>
                </a:tc>
              </a:tr>
              <a:tr h="475488">
                <a:tc>
                  <a:txBody>
                    <a:bodyPr/>
                    <a:lstStyle/>
                    <a:p>
                      <a:r>
                        <a:rPr sz="1400">
                          <a:solidFill>
                            <a:srgbClr val="101010"/>
                          </a:solidFill>
                        </a:rPr>
                        <a:t>AVERAGE</a:t>
                      </a:r>
                    </a:p>
                  </a:txBody>
                  <a:tcPr/>
                </a:tc>
                <a:tc>
                  <a:txBody>
                    <a:bodyPr/>
                    <a:lstStyle/>
                    <a:p>
                      <a:r>
                        <a:rPr sz="1400" b="1">
                          <a:solidFill>
                            <a:srgbClr val="0A843D"/>
                          </a:solidFill>
                        </a:rPr>
                        <a:t>0.0000</a:t>
                      </a:r>
                    </a:p>
                  </a:txBody>
                  <a:tcPr/>
                </a:tc>
                <a:tc>
                  <a:txBody>
                    <a:bodyPr/>
                    <a:lstStyle/>
                    <a:p>
                      <a:r>
                        <a:rPr sz="1400" b="1">
                          <a:solidFill>
                            <a:srgbClr val="0A843D"/>
                          </a:solidFill>
                        </a:rPr>
                        <a:t>0.9999</a:t>
                      </a:r>
                    </a:p>
                  </a:txBody>
                  <a:tcPr/>
                </a:tc>
                <a:tc>
                  <a:txBody>
                    <a:bodyPr/>
                    <a:lstStyle/>
                    <a:p>
                      <a:r>
                        <a:rPr sz="1400" b="1">
                          <a:solidFill>
                            <a:srgbClr val="0A843D"/>
                          </a:solidFill>
                        </a:rPr>
                        <a:t>+0.9999</a:t>
                      </a:r>
                    </a:p>
                  </a:txBody>
                  <a:tcPr/>
                </a:tc>
              </a:tr>
            </a:tbl>
          </a:graphicData>
        </a:graphic>
      </p:graphicFrame>
      <p:graphicFrame>
        <p:nvGraphicFramePr>
          <p:cNvPr id="4" name="Table 3"/>
          <p:cNvGraphicFramePr>
            <a:graphicFrameLocks noGrp="1"/>
          </p:cNvGraphicFramePr>
          <p:nvPr/>
        </p:nvGraphicFramePr>
        <p:xfrm>
          <a:off x="6400800" y="1188720"/>
          <a:ext cx="5486400" cy="2377440"/>
        </p:xfrm>
        <a:graphic>
          <a:graphicData uri="http://schemas.openxmlformats.org/drawingml/2006/table">
            <a:tbl>
              <a:tblPr firstRow="1" bandRow="1">
                <a:tableStyleId>{5C22544A-7EE6-4342-B048-85BDC9FD1C3A}</a:tableStyleId>
              </a:tblPr>
              <a:tblGrid>
                <a:gridCol w="1828800"/>
                <a:gridCol w="1828800"/>
                <a:gridCol w="1828800"/>
              </a:tblGrid>
              <a:tr h="475488">
                <a:tc>
                  <a:txBody>
                    <a:bodyPr/>
                    <a:lstStyle/>
                    <a:p>
                      <a:r>
                        <a:rPr b="1" sz="1600">
                          <a:solidFill>
                            <a:srgbClr val="FFFFFF"/>
                          </a:solidFill>
                        </a:rPr>
                        <a:t>checkpoint</a:t>
                      </a:r>
                    </a:p>
                  </a:txBody>
                  <a:tcPr>
                    <a:solidFill>
                      <a:srgbClr val="0E6BA8"/>
                    </a:solidFill>
                  </a:tcPr>
                </a:tc>
                <a:tc>
                  <a:txBody>
                    <a:bodyPr/>
                    <a:lstStyle/>
                    <a:p>
                      <a:r>
                        <a:rPr b="1" sz="1600">
                          <a:solidFill>
                            <a:srgbClr val="FFFFFF"/>
                          </a:solidFill>
                        </a:rPr>
                        <a:t>hard_drift</a:t>
                      </a:r>
                    </a:p>
                  </a:txBody>
                  <a:tcPr>
                    <a:solidFill>
                      <a:srgbClr val="0E6BA8"/>
                    </a:solidFill>
                  </a:tcPr>
                </a:tc>
                <a:tc>
                  <a:txBody>
                    <a:bodyPr/>
                    <a:lstStyle/>
                    <a:p>
                      <a:r>
                        <a:rPr b="1" sz="1600">
                          <a:solidFill>
                            <a:srgbClr val="FFFFFF"/>
                          </a:solidFill>
                        </a:rPr>
                        <a:t>what changed</a:t>
                      </a:r>
                    </a:p>
                  </a:txBody>
                  <a:tcPr>
                    <a:solidFill>
                      <a:srgbClr val="0E6BA8"/>
                    </a:solidFill>
                  </a:tcPr>
                </a:tc>
              </a:tr>
              <a:tr h="475488">
                <a:tc>
                  <a:txBody>
                    <a:bodyPr/>
                    <a:lstStyle/>
                    <a:p>
                      <a:r>
                        <a:rPr sz="1400">
                          <a:solidFill>
                            <a:srgbClr val="101010"/>
                          </a:solidFill>
                        </a:rPr>
                        <a:t>Base Qwen 2.5 3B</a:t>
                      </a:r>
                    </a:p>
                  </a:txBody>
                  <a:tcPr/>
                </a:tc>
                <a:tc>
                  <a:txBody>
                    <a:bodyPr/>
                    <a:lstStyle/>
                    <a:p>
                      <a:r>
                        <a:rPr sz="1400">
                          <a:solidFill>
                            <a:srgbClr val="101010"/>
                          </a:solidFill>
                        </a:rPr>
                        <a:t>0.0000</a:t>
                      </a:r>
                    </a:p>
                  </a:txBody>
                  <a:tcPr/>
                </a:tc>
                <a:tc>
                  <a:txBody>
                    <a:bodyPr/>
                    <a:lstStyle/>
                    <a:p>
                      <a:r>
                        <a:rPr sz="1400">
                          <a:solidFill>
                            <a:srgbClr val="101010"/>
                          </a:solidFill>
                        </a:rPr>
                        <a:t>untrained</a:t>
                      </a:r>
                    </a:p>
                  </a:txBody>
                  <a:tcPr/>
                </a:tc>
              </a:tr>
              <a:tr h="475488">
                <a:tc>
                  <a:txBody>
                    <a:bodyPr/>
                    <a:lstStyle/>
                    <a:p>
                      <a:r>
                        <a:rPr sz="1400">
                          <a:solidFill>
                            <a:srgbClr val="101010"/>
                          </a:solidFill>
                        </a:rPr>
                        <a:t>SFT v1</a:t>
                      </a:r>
                    </a:p>
                  </a:txBody>
                  <a:tcPr/>
                </a:tc>
                <a:tc>
                  <a:txBody>
                    <a:bodyPr/>
                    <a:lstStyle/>
                    <a:p>
                      <a:r>
                        <a:rPr sz="1400">
                          <a:solidFill>
                            <a:srgbClr val="101010"/>
                          </a:solidFill>
                        </a:rPr>
                        <a:t>0.7573</a:t>
                      </a:r>
                    </a:p>
                  </a:txBody>
                  <a:tcPr/>
                </a:tc>
                <a:tc>
                  <a:txBody>
                    <a:bodyPr/>
                    <a:lstStyle/>
                    <a:p>
                      <a:r>
                        <a:rPr sz="1400">
                          <a:solidFill>
                            <a:srgbClr val="101010"/>
                          </a:solidFill>
                        </a:rPr>
                        <a:t>scripted teacher (parity)</a:t>
                      </a:r>
                    </a:p>
                  </a:txBody>
                  <a:tcPr/>
                </a:tc>
              </a:tr>
              <a:tr h="475488">
                <a:tc>
                  <a:txBody>
                    <a:bodyPr/>
                    <a:lstStyle/>
                    <a:p>
                      <a:r>
                        <a:rPr sz="1400">
                          <a:solidFill>
                            <a:srgbClr val="101010"/>
                          </a:solidFill>
                        </a:rPr>
                        <a:t>GRPO over SFT v1</a:t>
                      </a:r>
                    </a:p>
                  </a:txBody>
                  <a:tcPr/>
                </a:tc>
                <a:tc>
                  <a:txBody>
                    <a:bodyPr/>
                    <a:lstStyle/>
                    <a:p>
                      <a:r>
                        <a:rPr sz="1400">
                          <a:solidFill>
                            <a:srgbClr val="101010"/>
                          </a:solidFill>
                        </a:rPr>
                        <a:t>0.7575 (Δ±0.0002)</a:t>
                      </a:r>
                    </a:p>
                  </a:txBody>
                  <a:tcPr/>
                </a:tc>
                <a:tc>
                  <a:txBody>
                    <a:bodyPr/>
                    <a:lstStyle/>
                    <a:p>
                      <a:r>
                        <a:rPr sz="1400">
                          <a:solidFill>
                            <a:srgbClr val="101010"/>
                          </a:solidFill>
                        </a:rPr>
                        <a:t>rewards saturated — calibration</a:t>
                      </a:r>
                    </a:p>
                  </a:txBody>
                  <a:tcPr/>
                </a:tc>
              </a:tr>
              <a:tr h="475488">
                <a:tc>
                  <a:txBody>
                    <a:bodyPr/>
                    <a:lstStyle/>
                    <a:p>
                      <a:r>
                        <a:rPr sz="1400">
                          <a:solidFill>
                            <a:srgbClr val="101010"/>
                          </a:solidFill>
                        </a:rPr>
                        <a:t>SFT v2</a:t>
                      </a:r>
                    </a:p>
                  </a:txBody>
                  <a:tcPr/>
                </a:tc>
                <a:tc>
                  <a:txBody>
                    <a:bodyPr/>
                    <a:lstStyle/>
                    <a:p>
                      <a:r>
                        <a:rPr sz="1400" b="1">
                          <a:solidFill>
                            <a:srgbClr val="0A843D"/>
                          </a:solidFill>
                        </a:rPr>
                        <a:t>0.9996</a:t>
                      </a:r>
                    </a:p>
                  </a:txBody>
                  <a:tcPr/>
                </a:tc>
                <a:tc>
                  <a:txBody>
                    <a:bodyPr/>
                    <a:lstStyle/>
                    <a:p>
                      <a:r>
                        <a:rPr sz="1400" b="1">
                          <a:solidFill>
                            <a:srgbClr val="0A843D"/>
                          </a:solidFill>
                        </a:rPr>
                        <a:t>drift-aware teacher</a:t>
                      </a:r>
                    </a:p>
                  </a:txBody>
                  <a:tcPr/>
                </a:tc>
              </a:tr>
            </a:tbl>
          </a:graphicData>
        </a:graphic>
      </p:graphicFrame>
      <p:sp>
        <p:nvSpPr>
          <p:cNvPr id="5" name="TextBox 4"/>
          <p:cNvSpPr txBox="1"/>
          <p:nvPr/>
        </p:nvSpPr>
        <p:spPr>
          <a:xfrm>
            <a:off x="457200" y="4114800"/>
            <a:ext cx="11430000" cy="2286000"/>
          </a:xfrm>
          <a:prstGeom prst="rect">
            <a:avLst/>
          </a:prstGeom>
          <a:noFill/>
        </p:spPr>
        <p:txBody>
          <a:bodyPr wrap="square">
            <a:spAutoFit/>
          </a:bodyPr>
          <a:lstStyle/>
          <a:p>
            <a:r>
              <a:rPr sz="1800">
                <a:solidFill>
                  <a:srgbClr val="101010"/>
                </a:solidFill>
              </a:rPr>
              <a:t>• 5 exploit patterns explicitly neutralised — all five score ≤ no_op</a:t>
            </a:r>
          </a:p>
          <a:p>
            <a:r>
              <a:rPr sz="1800">
                <a:solidFill>
                  <a:srgbClr val="101010"/>
                </a:solidFill>
              </a:rPr>
              <a:t>• Pivot was teacher engineering, not RL — +0.2423 lift on hard_drift in 90 trajectories + 33 min retraining</a:t>
            </a:r>
          </a:p>
          <a:p>
            <a:r>
              <a:rPr sz="1800">
                <a:solidFill>
                  <a:srgbClr val="101010"/>
                </a:solidFill>
              </a:rPr>
              <a:t>• Verified via Codex reproducibility protocol: sha256 byte-match of adapter weights + fresh-subprocess re-eval ×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r>
              <a:rPr sz="4000" b="1">
                <a:solidFill>
                  <a:srgbClr val="101010"/>
                </a:solidFill>
              </a:rPr>
              <a:t>Environment-first submission under Theme 3.1</a:t>
            </a:r>
          </a:p>
        </p:txBody>
      </p:sp>
      <p:sp>
        <p:nvSpPr>
          <p:cNvPr id="3" name="Content Placeholder 2"/>
          <p:cNvSpPr>
            <a:spLocks noGrp="1"/>
          </p:cNvSpPr>
          <p:nvPr>
            <p:ph idx="1"/>
          </p:nvPr>
        </p:nvSpPr>
        <p:spPr/>
        <p:txBody>
          <a:bodyPr wrap="square"/>
          <a:lstStyle/>
          <a:p>
            <a:pPr/>
            <a:r>
              <a:rPr sz="2200">
                <a:solidFill>
                  <a:srgbClr val="101010"/>
                </a:solidFill>
              </a:rPr>
              <a:t>Shipping today: env + grader + 5-attack exploit suite + scripted baseline + SFT v2 adapter (0.9999 avg)</a:t>
            </a:r>
          </a:p>
          <a:p>
            <a:pPr/>
            <a:r>
              <a:rPr sz="2200">
                <a:solidFill>
                  <a:srgbClr val="101010"/>
                </a:solidFill>
              </a:rPr>
              <a:t>Two of six axes — abstention_quality and drift_bonus — are RL-only targets (spec v3 §7.6)</a:t>
            </a:r>
          </a:p>
          <a:p>
            <a:pPr/>
            <a:r>
              <a:rPr sz="2200">
                <a:solidFill>
                  <a:srgbClr val="101010"/>
                </a:solidFill>
              </a:rPr>
              <a:t>Code enforces every claim: disjoint partition asserted at import, 5 exploit tests, prompt-version handshake</a:t>
            </a:r>
          </a:p>
          <a:p>
            <a:pPr/>
            <a:r>
              <a:rPr sz="2200">
                <a:solidFill>
                  <a:srgbClr val="101010"/>
                </a:solidFill>
              </a:rPr>
              <a:t>Theme 3.1 — DataOps Copilot. Enterprise reasoning under shifting business rules.</a:t>
            </a:r>
          </a:p>
          <a:p>
            <a:pPr/>
            <a:r>
              <a:rPr sz="2200">
                <a:solidFill>
                  <a:srgbClr val="101010"/>
                </a:solidFill>
              </a:rPr>
              <a:t>Repo: github.com/Algoace1403/METAHackthon2026</a:t>
            </a:r>
          </a:p>
          <a:p>
            <a:pPr/>
            <a:r>
              <a:rPr sz="2200">
                <a:solidFill>
                  <a:srgbClr val="101010"/>
                </a:solidFill>
              </a:rPr>
              <a:t>HF Space (LIVE): huggingface.co/spaces/Anuj424614/medibill-env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